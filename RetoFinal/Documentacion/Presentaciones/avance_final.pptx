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4" r:id="rId4"/>
    <p:sldId id="258" r:id="rId5"/>
    <p:sldId id="265" r:id="rId6"/>
    <p:sldId id="259" r:id="rId7"/>
    <p:sldId id="261" r:id="rId8"/>
    <p:sldId id="262" r:id="rId9"/>
    <p:sldId id="263" r:id="rId10"/>
    <p:sldId id="260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s-EC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14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1DE7B1-D3DA-6EEC-70B3-C7613B9582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928F19A-CD83-8544-BDD3-5DC879F0B2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8011A6D-B906-2670-858B-4CB47E3A9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5BA84-3AE7-544A-93C3-C65BF11F3DD8}" type="datetimeFigureOut">
              <a:rPr lang="es-EC" smtClean="0"/>
              <a:t>23/7/2026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0B4140C-3150-C46F-4652-2F900A2EE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D3F2069-5DD5-CB12-C40C-AE70A73C5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8C45B-E5D6-C049-9B5B-8599345335D8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8484404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6CA4E2-58EC-34C8-EF95-0A4B84D10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041D1BC-72A7-DEEB-C35C-793E270A33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7EB8C16-9738-61E1-D18A-71C9BAFA0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5BA84-3AE7-544A-93C3-C65BF11F3DD8}" type="datetimeFigureOut">
              <a:rPr lang="es-EC" smtClean="0"/>
              <a:t>23/7/2026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B102B1F-FC19-EE55-3C6B-CDF54BF1F5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B60BB9-D575-CF9E-CD08-047505943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8C45B-E5D6-C049-9B5B-8599345335D8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6615750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B16878-60B6-CFA2-197D-54381DDCEF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139FB9E-2359-1159-0081-4995CF3A70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25ABF2F-779F-6CAA-B1E6-7C03A920E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5BA84-3AE7-544A-93C3-C65BF11F3DD8}" type="datetimeFigureOut">
              <a:rPr lang="es-EC" smtClean="0"/>
              <a:t>23/7/2026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6E9C23E-A189-4A28-2B81-FF40413895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EC4590C-E4F4-F6FF-15F4-6691EA465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8C45B-E5D6-C049-9B5B-8599345335D8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41036909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26B0CD-7B50-EC0B-CFCC-61319A1DDC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7DC99E4-EBF7-4334-7CF4-6FD308476A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278863E-176D-E15F-6AF0-8559C8BB8C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C41AF0D-2BC0-40AD-3926-A1CC93D4B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5BA84-3AE7-544A-93C3-C65BF11F3DD8}" type="datetimeFigureOut">
              <a:rPr lang="es-EC" smtClean="0"/>
              <a:t>23/7/2026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9FE1A3B-A8CE-AE42-3720-D58A600F3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7EEEA44-7D6C-7D9C-DD5D-316FBD241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8C45B-E5D6-C049-9B5B-8599345335D8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448300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A101C0-9468-C4B8-4B7B-F5B00B7AC6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ABF4844-08D3-55D9-13E8-06D41A6A25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82FF7DD-BFDF-E448-3A99-9EF9199162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3F1FDAF-DE34-61AD-5FDF-30D02F9903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902E745-6686-7950-1C18-A47C1B8EDA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BBD0B804-6DB1-3675-0341-4EFFC4F653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5BA84-3AE7-544A-93C3-C65BF11F3DD8}" type="datetimeFigureOut">
              <a:rPr lang="es-EC" smtClean="0"/>
              <a:t>23/7/2026</a:t>
            </a:fld>
            <a:endParaRPr lang="es-EC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8931329-E737-4F8B-C362-A70BFF6755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2D565636-4515-E713-9058-82BD3C8CA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8C45B-E5D6-C049-9B5B-8599345335D8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7010144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9BDD74-1C8D-CEEB-B241-8F5A006214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75202A4-9034-028B-DC70-39AD30A6C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5BA84-3AE7-544A-93C3-C65BF11F3DD8}" type="datetimeFigureOut">
              <a:rPr lang="es-EC" smtClean="0"/>
              <a:t>23/7/2026</a:t>
            </a:fld>
            <a:endParaRPr lang="es-EC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0FCADD9-1B39-E487-82CD-7AFBCF6CD1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E4CB871-D171-2944-6CCD-6222F15D4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8C45B-E5D6-C049-9B5B-8599345335D8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8041546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9A93177-3356-B23F-9DBD-147F2073C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5BA84-3AE7-544A-93C3-C65BF11F3DD8}" type="datetimeFigureOut">
              <a:rPr lang="es-EC" smtClean="0"/>
              <a:t>23/7/2026</a:t>
            </a:fld>
            <a:endParaRPr lang="es-EC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B37F047-F691-BDD1-1B28-E1A9E85203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08F3173-4F6F-F992-56A4-66DF3C825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8C45B-E5D6-C049-9B5B-8599345335D8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9944250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54F4E5-330A-2426-9B96-C9C65D0E9F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E40F4DC-7293-C8B1-B908-5323F9F04B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0C0D512-3C74-7477-2C1B-FCBC7E946C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8D8825A-366E-61BC-9BFB-0BB99DD7C8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5BA84-3AE7-544A-93C3-C65BF11F3DD8}" type="datetimeFigureOut">
              <a:rPr lang="es-EC" smtClean="0"/>
              <a:t>23/7/2026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AFA02ED-C40B-8A8E-4FFE-51F746750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7F5CDC9-CA06-301C-6943-31E1364A3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8C45B-E5D6-C049-9B5B-8599345335D8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6719050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8BB937-E286-296D-8819-399690059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4BDFA88D-4678-0C99-739A-2DE65A7822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C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DED001E-4A96-AD97-55D8-7EF48859FD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3213106-F4F2-B352-2BA3-292702180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5BA84-3AE7-544A-93C3-C65BF11F3DD8}" type="datetimeFigureOut">
              <a:rPr lang="es-EC" smtClean="0"/>
              <a:t>23/7/2026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2338DC5-932E-B953-7D37-27A0575B06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99F029A-FDF4-36FE-013C-DE46C70C5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8C45B-E5D6-C049-9B5B-8599345335D8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882979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74FA98-C5CD-619A-0BEC-FB1084F5B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02A31EA-B565-373E-FB3B-A7609D69A7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9FB09DF-3EE6-5565-86AD-2B1F9EB2A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5BA84-3AE7-544A-93C3-C65BF11F3DD8}" type="datetimeFigureOut">
              <a:rPr lang="es-EC" smtClean="0"/>
              <a:t>23/7/2026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DAD1317-A800-F73A-7723-29756AD69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7129456-DE25-82B6-6892-0B89B8046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8C45B-E5D6-C049-9B5B-8599345335D8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2291294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3500E0F-9C0C-0E16-84F6-C910931DBE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BA7D567-F5BF-4775-342B-2B84F31586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17787BC-2327-E8C4-FA29-5ED850654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5BA84-3AE7-544A-93C3-C65BF11F3DD8}" type="datetimeFigureOut">
              <a:rPr lang="es-EC" smtClean="0"/>
              <a:t>23/7/2026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3FE6A9A-0F63-0DAC-D2DC-957EA495B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122CD1F-12C9-B782-BDFD-B9FA4BC94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8C45B-E5D6-C049-9B5B-8599345335D8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8074199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52E62DC-9120-7003-FF75-7955C8A3D6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A8EFCC8-9DC6-91A7-50C9-C4721549FF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A4850EB-E273-411F-F86D-84DD912D09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05BA84-3AE7-544A-93C3-C65BF11F3DD8}" type="datetimeFigureOut">
              <a:rPr lang="es-EC" smtClean="0"/>
              <a:t>23/7/2026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8C4AE48-50ED-4466-0C64-544D0E1127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40E37D4-C1D1-F65D-D452-0439B7C085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B8C45B-E5D6-C049-9B5B-8599345335D8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1757880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C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F66E1E-E4C0-4F13-548D-74576647825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419" dirty="0"/>
              <a:t>Avance final de reto final</a:t>
            </a:r>
            <a:endParaRPr lang="es-EC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F98D508-667C-6FA7-1875-7C8C08129D0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419" dirty="0"/>
              <a:t>Israel Calle</a:t>
            </a:r>
          </a:p>
          <a:p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27093107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0B29CB-FDDA-C827-918B-45E3412460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Estructura del programa </a:t>
            </a:r>
            <a:endParaRPr lang="es-EC" dirty="0"/>
          </a:p>
        </p:txBody>
      </p:sp>
      <p:pic>
        <p:nvPicPr>
          <p:cNvPr id="6" name="Marcador de contenido 5">
            <a:extLst>
              <a:ext uri="{FF2B5EF4-FFF2-40B4-BE49-F238E27FC236}">
                <a16:creationId xmlns:a16="http://schemas.microsoft.com/office/drawing/2014/main" id="{1FF42F17-B94D-E520-5458-0A74097164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48655" y="1825625"/>
            <a:ext cx="32946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08976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69945A-9D4E-571D-844D-E4FDD7F40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DB.py</a:t>
            </a:r>
            <a:endParaRPr lang="es-EC" dirty="0"/>
          </a:p>
        </p:txBody>
      </p:sp>
      <p:pic>
        <p:nvPicPr>
          <p:cNvPr id="6" name="Marcador de contenido 5">
            <a:extLst>
              <a:ext uri="{FF2B5EF4-FFF2-40B4-BE49-F238E27FC236}">
                <a16:creationId xmlns:a16="http://schemas.microsoft.com/office/drawing/2014/main" id="{FADB9D19-11C1-0309-C2A6-28439F797C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68924" y="1690688"/>
            <a:ext cx="6727181" cy="4351338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4CCB1E11-B747-502E-78C2-D5609306035F}"/>
              </a:ext>
            </a:extLst>
          </p:cNvPr>
          <p:cNvSpPr txBox="1"/>
          <p:nvPr/>
        </p:nvSpPr>
        <p:spPr>
          <a:xfrm>
            <a:off x="8061649" y="2055198"/>
            <a:ext cx="358295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El más simple pero el que todos los demás necesitan. Tiene una sola función importante, </a:t>
            </a:r>
            <a:r>
              <a:rPr lang="es-MX" dirty="0" err="1"/>
              <a:t>get_db</a:t>
            </a:r>
            <a:r>
              <a:rPr lang="es-MX" dirty="0"/>
              <a:t>(), que abre la conexión a tu MongoDB Atlas usando la URL que pusiste en .</a:t>
            </a:r>
            <a:r>
              <a:rPr lang="es-MX" dirty="0" err="1"/>
              <a:t>env</a:t>
            </a:r>
            <a:r>
              <a:rPr lang="es-MX" dirty="0"/>
              <a:t>, y la reutiliza (no abre una conexión nueva cada vez que se llama). Todos los demás archivos hacen </a:t>
            </a:r>
            <a:r>
              <a:rPr lang="es-MX" dirty="0" err="1"/>
              <a:t>from</a:t>
            </a:r>
            <a:r>
              <a:rPr lang="es-MX" dirty="0"/>
              <a:t> </a:t>
            </a:r>
            <a:r>
              <a:rPr lang="es-MX" dirty="0" err="1"/>
              <a:t>db</a:t>
            </a:r>
            <a:r>
              <a:rPr lang="es-MX" dirty="0"/>
              <a:t> </a:t>
            </a:r>
            <a:r>
              <a:rPr lang="es-MX" dirty="0" err="1"/>
              <a:t>import</a:t>
            </a:r>
            <a:r>
              <a:rPr lang="es-MX" dirty="0"/>
              <a:t> </a:t>
            </a:r>
            <a:r>
              <a:rPr lang="es-MX" dirty="0" err="1"/>
              <a:t>get_db</a:t>
            </a:r>
            <a:r>
              <a:rPr lang="es-MX" dirty="0"/>
              <a:t> cuando necesitan leer o guardar algo.</a:t>
            </a:r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19130294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7A30DC-D1DE-0944-2AA5-C32858A5A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Extractor.py</a:t>
            </a:r>
            <a:endParaRPr lang="es-EC" dirty="0"/>
          </a:p>
        </p:txBody>
      </p:sp>
      <p:pic>
        <p:nvPicPr>
          <p:cNvPr id="6" name="Marcador de contenido 5">
            <a:extLst>
              <a:ext uri="{FF2B5EF4-FFF2-40B4-BE49-F238E27FC236}">
                <a16:creationId xmlns:a16="http://schemas.microsoft.com/office/drawing/2014/main" id="{4CCF1C87-FBAC-B9DD-5D5F-5D78832950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23343" y="1872278"/>
            <a:ext cx="5658505" cy="4351338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BB59EAD1-88AF-7902-1DE7-62BBF2E394B4}"/>
              </a:ext>
            </a:extLst>
          </p:cNvPr>
          <p:cNvSpPr txBox="1"/>
          <p:nvPr/>
        </p:nvSpPr>
        <p:spPr>
          <a:xfrm>
            <a:off x="7389845" y="2637388"/>
            <a:ext cx="405881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Dos </a:t>
            </a:r>
            <a:r>
              <a:rPr lang="es-MX" dirty="0" err="1"/>
              <a:t>trabajos:Extraer</a:t>
            </a:r>
            <a:r>
              <a:rPr lang="es-MX" dirty="0"/>
              <a:t> texto de PDF (</a:t>
            </a:r>
            <a:r>
              <a:rPr lang="es-MX" dirty="0" err="1"/>
              <a:t>pypdf</a:t>
            </a:r>
            <a:r>
              <a:rPr lang="es-MX" dirty="0"/>
              <a:t>) o Word (</a:t>
            </a:r>
            <a:r>
              <a:rPr lang="es-MX" dirty="0" err="1"/>
              <a:t>python</a:t>
            </a:r>
            <a:r>
              <a:rPr lang="es-MX" dirty="0"/>
              <a:t>-docx), sin importar de qué unidad </a:t>
            </a:r>
            <a:r>
              <a:rPr lang="es-MX" dirty="0" err="1"/>
              <a:t>es.Extraer</a:t>
            </a:r>
            <a:r>
              <a:rPr lang="es-MX" dirty="0"/>
              <a:t> metadatos de la tabla "Datos Básicos" del Plan Docente (código, asignatura, carrera, ciclo), buscando por palabras clave para que funcione sin importar la plantilla exacta que use la UTPL.</a:t>
            </a:r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4901105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52EF08-5794-DA62-F0EA-4D91645296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Base_conocimientos.py</a:t>
            </a:r>
            <a:endParaRPr lang="es-EC" dirty="0"/>
          </a:p>
        </p:txBody>
      </p:sp>
      <p:pic>
        <p:nvPicPr>
          <p:cNvPr id="6" name="Marcador de contenido 5">
            <a:extLst>
              <a:ext uri="{FF2B5EF4-FFF2-40B4-BE49-F238E27FC236}">
                <a16:creationId xmlns:a16="http://schemas.microsoft.com/office/drawing/2014/main" id="{B2F3A362-DC48-70E9-AD95-734CCAEF44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34955"/>
            <a:ext cx="5820475" cy="4351338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E1238F75-11B8-F5C6-DA2C-CDC5999F6678}"/>
              </a:ext>
            </a:extLst>
          </p:cNvPr>
          <p:cNvSpPr txBox="1"/>
          <p:nvPr/>
        </p:nvSpPr>
        <p:spPr>
          <a:xfrm>
            <a:off x="7399176" y="1834955"/>
            <a:ext cx="404015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/>
              <a:t>Este es el original que te di en la semana 1, pensado para cuando tú mismo escribes a mano el contenido de cada unidad. Hoy en día no lo corres directamente — solo le pides prestadas dos funciones (construir_base, guardar_base, cargar_base) desde construir_base_real.py.</a:t>
            </a:r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13229586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DB7732-1B9F-C30D-30E7-7A587109BB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Exportador.py</a:t>
            </a:r>
            <a:endParaRPr lang="es-EC" dirty="0"/>
          </a:p>
        </p:txBody>
      </p:sp>
      <p:pic>
        <p:nvPicPr>
          <p:cNvPr id="6" name="Marcador de contenido 5">
            <a:extLst>
              <a:ext uri="{FF2B5EF4-FFF2-40B4-BE49-F238E27FC236}">
                <a16:creationId xmlns:a16="http://schemas.microsoft.com/office/drawing/2014/main" id="{25056623-7F63-77A8-E92D-4BB35EB8E1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86634" y="1769641"/>
            <a:ext cx="5777359" cy="4351338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407B9B39-CBAF-3E7B-F369-62AD008F6BEF}"/>
              </a:ext>
            </a:extLst>
          </p:cNvPr>
          <p:cNvSpPr txBox="1"/>
          <p:nvPr/>
        </p:nvSpPr>
        <p:spPr>
          <a:xfrm>
            <a:off x="7511143" y="1884784"/>
            <a:ext cx="399350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/>
              <a:t>No llama a Gemini para nada — solo lee lo que ya está en MongoDB (recursos) y usa python-docx para construir el documento: portada, una sección por unidad, y sus 4 subsecciones (resumen, tabla de glosario, preguntas numeradas por nivel, actividad).</a:t>
            </a:r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13933727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D1D451-1031-567C-CA2B-34958F761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Pipeline.py</a:t>
            </a:r>
            <a:endParaRPr lang="es-EC" dirty="0"/>
          </a:p>
        </p:txBody>
      </p:sp>
      <p:pic>
        <p:nvPicPr>
          <p:cNvPr id="6" name="Marcador de contenido 5">
            <a:extLst>
              <a:ext uri="{FF2B5EF4-FFF2-40B4-BE49-F238E27FC236}">
                <a16:creationId xmlns:a16="http://schemas.microsoft.com/office/drawing/2014/main" id="{64BACCC8-B627-DBA8-84BF-DB9B79E725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5824271" cy="4351338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C231B9E7-2F27-AD59-8A1E-8E0D68B71CD4}"/>
              </a:ext>
            </a:extLst>
          </p:cNvPr>
          <p:cNvSpPr txBox="1"/>
          <p:nvPr/>
        </p:nvSpPr>
        <p:spPr>
          <a:xfrm>
            <a:off x="7203233" y="1800808"/>
            <a:ext cx="421743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/>
              <a:t>Este es el "director de orquesta": para cada unidad de la asignatura, llama a los 4 prompts en orden, guarda cada resultado en MongoDB (colección recursos), y al final llama a exportador.py para armar el Word. Lo más importante que tiene: salta lo que ya está generado (ya_existe_recurso), así que si se corta a medias por la cuota, la siguiente corrida retoma justo donde se quedó sin gastar de más.</a:t>
            </a:r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20260188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9437E9-6463-7036-EB5E-742DE711D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Prompts.py</a:t>
            </a:r>
            <a:endParaRPr lang="es-EC" dirty="0"/>
          </a:p>
        </p:txBody>
      </p:sp>
      <p:pic>
        <p:nvPicPr>
          <p:cNvPr id="6" name="Marcador de contenido 5">
            <a:extLst>
              <a:ext uri="{FF2B5EF4-FFF2-40B4-BE49-F238E27FC236}">
                <a16:creationId xmlns:a16="http://schemas.microsoft.com/office/drawing/2014/main" id="{2EDDD866-F8F8-B329-ABA2-5999EB2C0D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5768440" cy="4351338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0AE6B01F-7275-D9DE-1F60-5ED2E6887EB8}"/>
              </a:ext>
            </a:extLst>
          </p:cNvPr>
          <p:cNvSpPr txBox="1"/>
          <p:nvPr/>
        </p:nvSpPr>
        <p:spPr>
          <a:xfrm>
            <a:off x="7175241" y="1517711"/>
            <a:ext cx="417855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Tiene cuatro funciones (</a:t>
            </a:r>
            <a:r>
              <a:rPr lang="es-MX" dirty="0" err="1"/>
              <a:t>generar_resumen</a:t>
            </a:r>
            <a:r>
              <a:rPr lang="es-MX" dirty="0"/>
              <a:t>, </a:t>
            </a:r>
            <a:r>
              <a:rPr lang="es-MX" dirty="0" err="1"/>
              <a:t>generar_glosario</a:t>
            </a:r>
            <a:r>
              <a:rPr lang="es-MX" dirty="0"/>
              <a:t>, </a:t>
            </a:r>
            <a:r>
              <a:rPr lang="es-MX" dirty="0" err="1"/>
              <a:t>generar_preguntas</a:t>
            </a:r>
            <a:r>
              <a:rPr lang="es-MX" dirty="0"/>
              <a:t>, </a:t>
            </a:r>
            <a:r>
              <a:rPr lang="es-MX" dirty="0" err="1"/>
              <a:t>generar_actividad</a:t>
            </a:r>
            <a:r>
              <a:rPr lang="es-MX" dirty="0"/>
              <a:t>), cada </a:t>
            </a:r>
            <a:r>
              <a:rPr lang="es-MX" dirty="0" err="1"/>
              <a:t>una:arma</a:t>
            </a:r>
            <a:r>
              <a:rPr lang="es-MX" dirty="0"/>
              <a:t> un </a:t>
            </a:r>
            <a:r>
              <a:rPr lang="es-MX" dirty="0" err="1"/>
              <a:t>prompt</a:t>
            </a:r>
            <a:r>
              <a:rPr lang="es-MX" dirty="0"/>
              <a:t> con el contenido real de la </a:t>
            </a:r>
            <a:r>
              <a:rPr lang="es-MX" dirty="0" err="1"/>
              <a:t>unidad,le</a:t>
            </a:r>
            <a:r>
              <a:rPr lang="es-MX" dirty="0"/>
              <a:t> pide a Gemini que responda en JSON con una estructura fija (</a:t>
            </a:r>
            <a:r>
              <a:rPr lang="es-MX" dirty="0" err="1"/>
              <a:t>response_schema</a:t>
            </a:r>
            <a:r>
              <a:rPr lang="es-MX" dirty="0"/>
              <a:t>),maneja reintentos si Gemini responde 429/503, </a:t>
            </a:r>
            <a:r>
              <a:rPr lang="es-MX" dirty="0" err="1"/>
              <a:t>yguarda</a:t>
            </a:r>
            <a:r>
              <a:rPr lang="es-MX" dirty="0"/>
              <a:t> en MongoDB (</a:t>
            </a:r>
            <a:r>
              <a:rPr lang="es-MX" dirty="0" err="1"/>
              <a:t>prompts_usados</a:t>
            </a:r>
            <a:r>
              <a:rPr lang="es-MX" dirty="0"/>
              <a:t>) cada intento, para que quede </a:t>
            </a:r>
            <a:r>
              <a:rPr lang="es-MX" dirty="0" err="1"/>
              <a:t>documentado.Si</a:t>
            </a:r>
            <a:r>
              <a:rPr lang="es-MX" dirty="0"/>
              <a:t> se agota la cuota gratis, no revienta el programa — levanta </a:t>
            </a:r>
            <a:r>
              <a:rPr lang="es-MX" dirty="0" err="1"/>
              <a:t>CuotaAgotadaError</a:t>
            </a:r>
            <a:r>
              <a:rPr lang="es-MX" dirty="0"/>
              <a:t>, un error que los demás archivos saben capturar con elegancia.</a:t>
            </a:r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4215227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E0C666-DECF-C64A-B903-7C3C52217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Construir_base_real.py</a:t>
            </a:r>
            <a:endParaRPr lang="es-EC" dirty="0"/>
          </a:p>
        </p:txBody>
      </p:sp>
      <p:pic>
        <p:nvPicPr>
          <p:cNvPr id="6" name="Marcador de contenido 5">
            <a:extLst>
              <a:ext uri="{FF2B5EF4-FFF2-40B4-BE49-F238E27FC236}">
                <a16:creationId xmlns:a16="http://schemas.microsoft.com/office/drawing/2014/main" id="{7B385AC1-362C-19A8-1AD5-AD1FD80398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5805498" cy="4351338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BBC9EA16-FE3D-AD41-D43F-4F96FB06A422}"/>
              </a:ext>
            </a:extLst>
          </p:cNvPr>
          <p:cNvSpPr txBox="1"/>
          <p:nvPr/>
        </p:nvSpPr>
        <p:spPr>
          <a:xfrm>
            <a:off x="7035282" y="1782147"/>
            <a:ext cx="4469363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Este es el que corres primero (</a:t>
            </a:r>
            <a:r>
              <a:rPr lang="es-MX" dirty="0" err="1"/>
              <a:t>python</a:t>
            </a:r>
            <a:r>
              <a:rPr lang="es-MX" dirty="0"/>
              <a:t> src/construir_base_real.py o desde la pestaña 1 de la app web). Hace lo </a:t>
            </a:r>
            <a:r>
              <a:rPr lang="es-MX" dirty="0" err="1"/>
              <a:t>siguiente:Llama</a:t>
            </a:r>
            <a:r>
              <a:rPr lang="es-MX" dirty="0"/>
              <a:t> a extractor.py para sacar los metadatos y el </a:t>
            </a:r>
            <a:r>
              <a:rPr lang="es-MX" dirty="0" err="1"/>
              <a:t>texto.Prueba</a:t>
            </a:r>
            <a:r>
              <a:rPr lang="es-MX" dirty="0"/>
              <a:t> dos estrategias para encontrar las unidades: si el Plan Docente usa encabezados de párrafo tipo "SEMANA N:", los lee así; si no encuentra nada, prueba leyendo una tabla por semana (la plantilla más formal que usa "Análisis de Algoritmos").Arma el diccionario completo de la asignatura y lo guarda en MongoDB con </a:t>
            </a:r>
            <a:r>
              <a:rPr lang="es-MX" dirty="0" err="1"/>
              <a:t>guardar_base</a:t>
            </a:r>
            <a:r>
              <a:rPr lang="es-MX" dirty="0"/>
              <a:t>().</a:t>
            </a:r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20905913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73DFAD-1099-3ABA-38CA-CAE1BE5C8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Pantallas.py</a:t>
            </a:r>
            <a:endParaRPr lang="es-EC" dirty="0"/>
          </a:p>
        </p:txBody>
      </p:sp>
      <p:pic>
        <p:nvPicPr>
          <p:cNvPr id="6" name="Marcador de contenido 5">
            <a:extLst>
              <a:ext uri="{FF2B5EF4-FFF2-40B4-BE49-F238E27FC236}">
                <a16:creationId xmlns:a16="http://schemas.microsoft.com/office/drawing/2014/main" id="{C275D79D-3228-C8D5-D62A-809193DA11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5777359" cy="4351338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9F83DC5A-E3EB-0666-A325-A3A751C2AC26}"/>
              </a:ext>
            </a:extLst>
          </p:cNvPr>
          <p:cNvSpPr txBox="1"/>
          <p:nvPr/>
        </p:nvSpPr>
        <p:spPr>
          <a:xfrm>
            <a:off x="7091265" y="1690688"/>
            <a:ext cx="418944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/>
              <a:t>El que corres con streamlit run src/pantallas.py. Es solo una "cara bonita" sobre todo lo anterior — no tiene lógica propia de generación, simplemente llama a las funciones de construir_base_real.py, pipeline.py y exportador.py según en qué pestaña estés, y te muestra botones, barras de progreso y el estado de cada asignatura.</a:t>
            </a:r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10250079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032CBF-04F1-D470-0AB7-2D386C6F6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/>
              <a:t>Pantalla extractor de información de documentos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4505D20A-DDB2-D32F-6344-1A1E701F67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3445" y="1690688"/>
            <a:ext cx="8534400" cy="4619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92141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869FF2-99CE-7557-9994-E12AFC737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/>
              <a:t>Pantalla de generación de recursos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E839D01E-C101-0BFD-CA77-08B6CAA558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68230" y="1825625"/>
            <a:ext cx="8455540" cy="4351338"/>
          </a:xfrm>
        </p:spPr>
      </p:pic>
    </p:spTree>
    <p:extLst>
      <p:ext uri="{BB962C8B-B14F-4D97-AF65-F5344CB8AC3E}">
        <p14:creationId xmlns:p14="http://schemas.microsoft.com/office/powerpoint/2010/main" val="26162044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53598E-FEA8-59C7-850A-B9C4EFE43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/>
              <a:t>Pantallas de descargas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B902687A-A5A4-F729-DC04-1A9DA5EA04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87509" y="1825625"/>
            <a:ext cx="8416982" cy="4351338"/>
          </a:xfrm>
        </p:spPr>
      </p:pic>
    </p:spTree>
    <p:extLst>
      <p:ext uri="{BB962C8B-B14F-4D97-AF65-F5344CB8AC3E}">
        <p14:creationId xmlns:p14="http://schemas.microsoft.com/office/powerpoint/2010/main" val="293766871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668</Words>
  <Application>Microsoft Office PowerPoint</Application>
  <PresentationFormat>Panorámica</PresentationFormat>
  <Paragraphs>22</Paragraphs>
  <Slides>13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Tema de Office</vt:lpstr>
      <vt:lpstr>Avance final de reto final</vt:lpstr>
      <vt:lpstr>Estructura del programa </vt:lpstr>
      <vt:lpstr>DB.py</vt:lpstr>
      <vt:lpstr>Extractor.py</vt:lpstr>
      <vt:lpstr>Base_conocimientos.py</vt:lpstr>
      <vt:lpstr>Exportador.py</vt:lpstr>
      <vt:lpstr>Pipeline.py</vt:lpstr>
      <vt:lpstr>Prompts.py</vt:lpstr>
      <vt:lpstr>Construir_base_real.py</vt:lpstr>
      <vt:lpstr>Pantallas.py</vt:lpstr>
      <vt:lpstr>Pantalla extractor de información de documentos</vt:lpstr>
      <vt:lpstr>Pantalla de generación de recursos</vt:lpstr>
      <vt:lpstr>Pantallas de descargas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Avances de reto final</dc:title>
  <dc:creator>ISRAEL PATRICIO CALLE MUÑOZ</dc:creator>
  <cp:lastModifiedBy>israel calle</cp:lastModifiedBy>
  <cp:revision>3</cp:revision>
  <dcterms:created xsi:type="dcterms:W3CDTF">2026-07-17T16:32:17Z</dcterms:created>
  <dcterms:modified xsi:type="dcterms:W3CDTF">2026-07-23T07:56:25Z</dcterms:modified>
</cp:coreProperties>
</file>